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GEV1f8+VmfttMZKTjyxA86s04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CA9986-F9D2-47BD-B4BB-1ED9EF2C02F6}">
  <a:tblStyle styleId="{C6CA9986-F9D2-47BD-B4BB-1ED9EF2C02F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{C6CA9986-F9D2-47BD-B4BB-1ED9EF2C02F6}</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sz="2000"/>
                        <a:t>Ayana Joy</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ayanajoy45@gmail.com</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7907838567</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7" name="Google Shape;87;p2" title="1783758645626.jpg"/>
          <p:cNvPicPr preferRelativeResize="0"/>
          <p:nvPr/>
        </p:nvPicPr>
        <p:blipFill rotWithShape="1">
          <a:blip r:embed="rId3">
            <a:alphaModFix/>
          </a:blip>
          <a:srcRect b="14325" l="3007" r="3017" t="0"/>
          <a:stretch/>
        </p:blipFill>
        <p:spPr>
          <a:xfrm>
            <a:off x="4053025" y="3738425"/>
            <a:ext cx="895750" cy="807001"/>
          </a:xfrm>
          <a:prstGeom prst="rect">
            <a:avLst/>
          </a:prstGeom>
          <a:noFill/>
          <a:ln>
            <a:noFill/>
          </a:ln>
        </p:spPr>
      </p:pic>
      <p:sp>
        <p:nvSpPr>
          <p:cNvPr id="88" name="Google Shape;88;p2"/>
          <p:cNvSpPr txBox="1"/>
          <p:nvPr/>
        </p:nvSpPr>
        <p:spPr>
          <a:xfrm>
            <a:off x="1206164" y="1460724"/>
            <a:ext cx="10280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Domain of  Project – Healthcare</a:t>
            </a:r>
            <a:endParaRPr b="1" i="0" sz="2800" u="none" cap="none" strike="noStrike">
              <a:solidFill>
                <a:srgbClr val="000000"/>
              </a:solidFill>
              <a:latin typeface="Arial"/>
              <a:ea typeface="Arial"/>
              <a:cs typeface="Arial"/>
              <a:sym typeface="Arial"/>
            </a:endParaRPr>
          </a:p>
        </p:txBody>
      </p:sp>
      <p:sp>
        <p:nvSpPr>
          <p:cNvPr id="89" name="Google Shape;89;p2"/>
          <p:cNvSpPr txBox="1"/>
          <p:nvPr/>
        </p:nvSpPr>
        <p:spPr>
          <a:xfrm>
            <a:off x="1206162" y="551965"/>
            <a:ext cx="9581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Project Tit</a:t>
            </a:r>
            <a:r>
              <a:rPr b="1" lang="en-US" sz="2800"/>
              <a:t>l</a:t>
            </a:r>
            <a:r>
              <a:rPr b="1" i="0" lang="en-US" sz="2800" u="none" cap="none" strike="noStrike">
                <a:solidFill>
                  <a:srgbClr val="000000"/>
                </a:solidFill>
                <a:latin typeface="Arial"/>
                <a:ea typeface="Arial"/>
                <a:cs typeface="Arial"/>
                <a:sym typeface="Arial"/>
              </a:rPr>
              <a:t>e – </a:t>
            </a:r>
            <a:r>
              <a:rPr b="1" lang="en-US" sz="2800">
                <a:highlight>
                  <a:schemeClr val="lt1"/>
                </a:highlight>
              </a:rPr>
              <a:t>Nutrition Agent</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4"/>
          <p:cNvSpPr txBox="1"/>
          <p:nvPr/>
        </p:nvSpPr>
        <p:spPr>
          <a:xfrm>
            <a:off x="576072" y="1234440"/>
            <a:ext cx="10607040" cy="50475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Nutrition Agent</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Good nutrition is the foundation of health, but individuals often struggle with </a:t>
            </a:r>
            <a:r>
              <a:rPr b="1" i="0" lang="en-US" sz="1400" u="none" cap="none" strike="noStrike">
                <a:solidFill>
                  <a:srgbClr val="000000"/>
                </a:solidFill>
                <a:latin typeface="Arial"/>
                <a:ea typeface="Arial"/>
                <a:cs typeface="Arial"/>
                <a:sym typeface="Arial"/>
              </a:rPr>
              <a:t>diet planning, portion control, and tracking nutritional intake</a:t>
            </a:r>
            <a:r>
              <a:rPr b="0" i="0" lang="en-US" sz="1400" u="none" cap="none" strike="noStrike">
                <a:solidFill>
                  <a:srgbClr val="000000"/>
                </a:solidFill>
                <a:latin typeface="Arial"/>
                <a:ea typeface="Arial"/>
                <a:cs typeface="Arial"/>
                <a:sym typeface="Arial"/>
              </a:rPr>
              <a:t>. Information about healthy diets, disease-specific nutrition, and food composition is scattered across unreliable sources. Without </a:t>
            </a:r>
            <a:r>
              <a:rPr b="1" i="0" lang="en-US" sz="1400" u="none" cap="none" strike="noStrike">
                <a:solidFill>
                  <a:srgbClr val="000000"/>
                </a:solidFill>
                <a:latin typeface="Arial"/>
                <a:ea typeface="Arial"/>
                <a:cs typeface="Arial"/>
                <a:sym typeface="Arial"/>
              </a:rPr>
              <a:t>personalized, real-time guidance</a:t>
            </a:r>
            <a:r>
              <a:rPr b="0" i="0" lang="en-US" sz="1400" u="none" cap="none" strike="noStrike">
                <a:solidFill>
                  <a:srgbClr val="000000"/>
                </a:solidFill>
                <a:latin typeface="Arial"/>
                <a:ea typeface="Arial"/>
                <a:cs typeface="Arial"/>
                <a:sym typeface="Arial"/>
              </a:rPr>
              <a:t>, many fail to maintain balanced diets or make informed food choices.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Objective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Build an </a:t>
            </a:r>
            <a:r>
              <a:rPr b="1" i="0" lang="en-US" sz="1400" u="none" cap="none" strike="noStrike">
                <a:solidFill>
                  <a:srgbClr val="000000"/>
                </a:solidFill>
                <a:latin typeface="Arial"/>
                <a:ea typeface="Arial"/>
                <a:cs typeface="Arial"/>
                <a:sym typeface="Arial"/>
              </a:rPr>
              <a:t>AI-powered Nutrition Agent</a:t>
            </a:r>
            <a:r>
              <a:rPr b="0" i="0" lang="en-US" sz="1400" u="none" cap="none" strike="noStrike">
                <a:solidFill>
                  <a:srgbClr val="000000"/>
                </a:solidFill>
                <a:latin typeface="Arial"/>
                <a:ea typeface="Arial"/>
                <a:cs typeface="Arial"/>
                <a:sym typeface="Arial"/>
              </a:rPr>
              <a:t> that delivers </a:t>
            </a:r>
            <a:r>
              <a:rPr b="1" i="0" lang="en-US" sz="1400" u="none" cap="none" strike="noStrike">
                <a:solidFill>
                  <a:srgbClr val="000000"/>
                </a:solidFill>
                <a:latin typeface="Arial"/>
                <a:ea typeface="Arial"/>
                <a:cs typeface="Arial"/>
                <a:sym typeface="Arial"/>
              </a:rPr>
              <a:t>personalized dietary insights and guidance</a:t>
            </a:r>
            <a:r>
              <a:rPr b="0" i="0" lang="en-US" sz="1400" u="none" cap="none" strike="noStrike">
                <a:solidFill>
                  <a:srgbClr val="000000"/>
                </a:solidFill>
                <a:latin typeface="Arial"/>
                <a:ea typeface="Arial"/>
                <a:cs typeface="Arial"/>
                <a:sym typeface="Arial"/>
              </a:rPr>
              <a:t> for individuals, families, and health professionals. The solution should: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Personalized Diet Plans</a:t>
            </a:r>
            <a:r>
              <a:rPr b="0" i="0" lang="en-US" sz="1400" u="none" cap="none" strike="noStrike">
                <a:solidFill>
                  <a:srgbClr val="000000"/>
                </a:solidFill>
                <a:latin typeface="Arial"/>
                <a:ea typeface="Arial"/>
                <a:cs typeface="Arial"/>
                <a:sym typeface="Arial"/>
              </a:rPr>
              <a:t> – Recommend meals based on age, health conditions, allergies, cultural preferences, and fitness goals.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Data RAG Retrieval</a:t>
            </a:r>
            <a:r>
              <a:rPr b="0" i="0" lang="en-US" sz="1400" u="none" cap="none" strike="noStrike">
                <a:solidFill>
                  <a:srgbClr val="000000"/>
                </a:solidFill>
                <a:latin typeface="Arial"/>
                <a:ea typeface="Arial"/>
                <a:cs typeface="Arial"/>
                <a:sym typeface="Arial"/>
              </a:rPr>
              <a:t> – Fetch and summarize nutritional values (calories, macros, vitamins) from reliable sources.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Tracking &amp; Feedback</a:t>
            </a:r>
            <a:r>
              <a:rPr b="0" i="0" lang="en-US" sz="1400" u="none" cap="none" strike="noStrike">
                <a:solidFill>
                  <a:srgbClr val="000000"/>
                </a:solidFill>
                <a:latin typeface="Arial"/>
                <a:ea typeface="Arial"/>
                <a:cs typeface="Arial"/>
                <a:sym typeface="Arial"/>
              </a:rPr>
              <a:t> – Allow users to log meals via text, images, or voice, and provide instant nutritional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Preventive Health Focus</a:t>
            </a:r>
            <a:r>
              <a:rPr b="0" i="0" lang="en-US" sz="1400" u="none" cap="none" strike="noStrike">
                <a:solidFill>
                  <a:srgbClr val="000000"/>
                </a:solidFill>
                <a:latin typeface="Arial"/>
                <a:ea typeface="Arial"/>
                <a:cs typeface="Arial"/>
                <a:sym typeface="Arial"/>
              </a:rPr>
              <a:t> – Suggest diets for chronic disease management (e.g., diabetes-friendly or heart-healthy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Multi-Agent System</a:t>
            </a:r>
            <a:r>
              <a:rPr b="0" i="0" lang="en-US" sz="1400" u="none" cap="none" strike="noStrike">
                <a:solidFill>
                  <a:srgbClr val="000000"/>
                </a:solidFill>
                <a:latin typeface="Arial"/>
                <a:ea typeface="Arial"/>
                <a:cs typeface="Arial"/>
                <a:sym typeface="Arial"/>
              </a:rPr>
              <a:t> –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(fetches nutritional data)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(personalized meal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(preventive health suggestions)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(meal tracking +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Visualization Dashboard</a:t>
            </a:r>
            <a:r>
              <a:rPr b="0" i="0" lang="en-US" sz="1400" u="none" cap="none" strike="noStrike">
                <a:solidFill>
                  <a:srgbClr val="000000"/>
                </a:solidFill>
                <a:latin typeface="Arial"/>
                <a:ea typeface="Arial"/>
                <a:cs typeface="Arial"/>
                <a:sym typeface="Arial"/>
              </a:rPr>
              <a:t> – Show daily/weekly nutrient intake, deficiencies, and progress toward health goals.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34"/>
          <p:cNvSpPr txBox="1"/>
          <p:nvPr/>
        </p:nvSpPr>
        <p:spPr>
          <a:xfrm>
            <a:off x="576072" y="704088"/>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5"/>
          <p:cNvSpPr txBox="1"/>
          <p:nvPr/>
        </p:nvSpPr>
        <p:spPr>
          <a:xfrm>
            <a:off x="576072" y="1234440"/>
            <a:ext cx="1060704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Proposed Solution: AI-Powered Nutrition Agent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proposed solution is a </a:t>
            </a:r>
            <a:r>
              <a:rPr b="1" i="0" lang="en-US" sz="1400" u="none" cap="none" strike="noStrike">
                <a:solidFill>
                  <a:srgbClr val="000000"/>
                </a:solidFill>
                <a:latin typeface="Arial"/>
                <a:ea typeface="Arial"/>
                <a:cs typeface="Arial"/>
                <a:sym typeface="Arial"/>
              </a:rPr>
              <a:t>multi-agent AI-powered Nutrition Agent</a:t>
            </a:r>
            <a:r>
              <a:rPr b="0" i="0" lang="en-US" sz="1400" u="none" cap="none" strike="noStrike">
                <a:solidFill>
                  <a:srgbClr val="000000"/>
                </a:solidFill>
                <a:latin typeface="Arial"/>
                <a:ea typeface="Arial"/>
                <a:cs typeface="Arial"/>
                <a:sym typeface="Arial"/>
              </a:rPr>
              <a:t> built using </a:t>
            </a:r>
            <a:r>
              <a:rPr b="1" i="0" lang="en-US" sz="1400" u="none" cap="none" strike="noStrike">
                <a:solidFill>
                  <a:srgbClr val="000000"/>
                </a:solidFill>
                <a:latin typeface="Arial"/>
                <a:ea typeface="Arial"/>
                <a:cs typeface="Arial"/>
                <a:sym typeface="Arial"/>
              </a:rPr>
              <a:t>LangFlow, IBM watsonx.ai, and Granite Models</a:t>
            </a:r>
            <a:r>
              <a:rPr b="0" i="0" lang="en-US" sz="1400" u="none" cap="none" strike="noStrike">
                <a:solidFill>
                  <a:srgbClr val="000000"/>
                </a:solidFill>
                <a:latin typeface="Arial"/>
                <a:ea typeface="Arial"/>
                <a:cs typeface="Arial"/>
                <a:sym typeface="Arial"/>
              </a:rPr>
              <a:t> to provide personalized, real-time dietary guidance. The system addresses challenges in diet planning, nutrition tracking, and preventive healthcare through an intelligent, modular architecture.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its core, the solution uses a </a:t>
            </a:r>
            <a:r>
              <a:rPr b="1" i="0" lang="en-US" sz="1400" u="none" cap="none" strike="noStrike">
                <a:solidFill>
                  <a:srgbClr val="000000"/>
                </a:solidFill>
                <a:latin typeface="Arial"/>
                <a:ea typeface="Arial"/>
                <a:cs typeface="Arial"/>
                <a:sym typeface="Arial"/>
              </a:rPr>
              <a:t>Retrieval-Augmented Generation (RAG)</a:t>
            </a:r>
            <a:r>
              <a:rPr b="0" i="0" lang="en-US" sz="1400" u="none" cap="none" strike="noStrike">
                <a:solidFill>
                  <a:srgbClr val="000000"/>
                </a:solidFill>
                <a:latin typeface="Arial"/>
                <a:ea typeface="Arial"/>
                <a:cs typeface="Arial"/>
                <a:sym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system consists of four key agents: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retrieves and summarizes nutritional information using RAG.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generates personalized meal plans based on user inputs such as age, health conditions, dietary preferences, and fitness goals.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provides preventive health suggestions, including disease-specific diets (e.g., diabetes-friendly or heart-healthy plans).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allows users to log meals via text, voice, or images and delivers instant nutritional analysis with actionable feedback.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solution includes a </a:t>
            </a:r>
            <a:r>
              <a:rPr b="1" i="0" lang="en-US" sz="1400" u="none" cap="none" strike="noStrike">
                <a:solidFill>
                  <a:srgbClr val="000000"/>
                </a:solidFill>
                <a:latin typeface="Arial"/>
                <a:ea typeface="Arial"/>
                <a:cs typeface="Arial"/>
                <a:sym typeface="Arial"/>
              </a:rPr>
              <a:t>user-friendly dashboard</a:t>
            </a:r>
            <a:r>
              <a:rPr b="0" i="0" lang="en-US" sz="1400" u="none" cap="none" strike="noStrike">
                <a:solidFill>
                  <a:srgbClr val="000000"/>
                </a:solidFill>
                <a:latin typeface="Arial"/>
                <a:ea typeface="Arial"/>
                <a:cs typeface="Arial"/>
                <a:sym typeface="Arial"/>
              </a:rPr>
              <a:t> (built with Streamlit or React) that visualizes daily and weekly nutrient intake, highlights deficiencies, and tracks progress toward health goals.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LangFlow is used to orchestrate agent workflows, while watsonx.ai ensures scalable model deployment, embeddings, and AI governance. Granite models power reasoning, summarization, and personalization.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this solution delivers an </a:t>
            </a:r>
            <a:r>
              <a:rPr b="1" i="0" lang="en-US" sz="1400" u="none" cap="none" strike="noStrike">
                <a:solidFill>
                  <a:srgbClr val="000000"/>
                </a:solidFill>
                <a:latin typeface="Arial"/>
                <a:ea typeface="Arial"/>
                <a:cs typeface="Arial"/>
                <a:sym typeface="Arial"/>
              </a:rPr>
              <a:t>end-to-end intelligent nutrition assistant</a:t>
            </a:r>
            <a:r>
              <a:rPr b="0" i="0" lang="en-US" sz="1400" u="none" cap="none" strike="noStrike">
                <a:solidFill>
                  <a:srgbClr val="000000"/>
                </a:solidFill>
                <a:latin typeface="Arial"/>
                <a:ea typeface="Arial"/>
                <a:cs typeface="Arial"/>
                <a:sym typeface="Arial"/>
              </a:rPr>
              <a:t> that promotes healthier lifestyles through personalized insights, real-time feedback, and preventive healthcare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36"/>
          <p:cNvSpPr txBox="1"/>
          <p:nvPr/>
        </p:nvSpPr>
        <p:spPr>
          <a:xfrm>
            <a:off x="777240" y="1207008"/>
            <a:ext cx="10515600" cy="55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Langflow platform </a:t>
            </a:r>
            <a:r>
              <a:rPr b="0" i="0" lang="en-US" sz="1800" u="none" cap="none" strike="noStrike">
                <a:solidFill>
                  <a:srgbClr val="000000"/>
                </a:solidFill>
                <a:latin typeface="Arial"/>
                <a:ea typeface="Arial"/>
                <a:cs typeface="Arial"/>
                <a:sym typeface="Arial"/>
              </a:rPr>
              <a:t>-For designing and orchestrating multi-agent workflows visually</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Granite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Nutrition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nutritional data retrieval</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7" title="Screenshot 2026-07-11 144346.png"/>
          <p:cNvPicPr preferRelativeResize="0"/>
          <p:nvPr/>
        </p:nvPicPr>
        <p:blipFill rotWithShape="1">
          <a:blip r:embed="rId3">
            <a:alphaModFix/>
          </a:blip>
          <a:srcRect b="0" l="0" r="0" t="0"/>
          <a:stretch/>
        </p:blipFill>
        <p:spPr>
          <a:xfrm>
            <a:off x="0" y="157375"/>
            <a:ext cx="6085325" cy="2982549"/>
          </a:xfrm>
          <a:prstGeom prst="rect">
            <a:avLst/>
          </a:prstGeom>
          <a:noFill/>
          <a:ln>
            <a:noFill/>
          </a:ln>
        </p:spPr>
      </p:pic>
      <p:pic>
        <p:nvPicPr>
          <p:cNvPr id="113" name="Google Shape;113;p7" title="Screenshot 2026-07-11 144521.png"/>
          <p:cNvPicPr preferRelativeResize="0"/>
          <p:nvPr/>
        </p:nvPicPr>
        <p:blipFill>
          <a:blip r:embed="rId4">
            <a:alphaModFix/>
          </a:blip>
          <a:stretch>
            <a:fillRect/>
          </a:stretch>
        </p:blipFill>
        <p:spPr>
          <a:xfrm>
            <a:off x="6123550" y="147963"/>
            <a:ext cx="6085326" cy="3001374"/>
          </a:xfrm>
          <a:prstGeom prst="rect">
            <a:avLst/>
          </a:prstGeom>
          <a:noFill/>
          <a:ln>
            <a:noFill/>
          </a:ln>
        </p:spPr>
      </p:pic>
      <p:pic>
        <p:nvPicPr>
          <p:cNvPr id="114" name="Google Shape;114;p7" title="Screenshot 2026-07-11 144543.png"/>
          <p:cNvPicPr preferRelativeResize="0"/>
          <p:nvPr/>
        </p:nvPicPr>
        <p:blipFill>
          <a:blip r:embed="rId5">
            <a:alphaModFix/>
          </a:blip>
          <a:stretch>
            <a:fillRect/>
          </a:stretch>
        </p:blipFill>
        <p:spPr>
          <a:xfrm>
            <a:off x="39602" y="3561450"/>
            <a:ext cx="6006119" cy="2957625"/>
          </a:xfrm>
          <a:prstGeom prst="rect">
            <a:avLst/>
          </a:prstGeom>
          <a:noFill/>
          <a:ln>
            <a:noFill/>
          </a:ln>
        </p:spPr>
      </p:pic>
      <p:pic>
        <p:nvPicPr>
          <p:cNvPr id="115" name="Google Shape;115;p7" title="Screenshot 2026-07-11 144611.png"/>
          <p:cNvPicPr preferRelativeResize="0"/>
          <p:nvPr/>
        </p:nvPicPr>
        <p:blipFill>
          <a:blip r:embed="rId6">
            <a:alphaModFix/>
          </a:blip>
          <a:stretch>
            <a:fillRect/>
          </a:stretch>
        </p:blipFill>
        <p:spPr>
          <a:xfrm>
            <a:off x="6163150" y="3570050"/>
            <a:ext cx="6006126" cy="29404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21" name="Google Shape;121;p41"/>
          <p:cNvSpPr/>
          <p:nvPr/>
        </p:nvSpPr>
        <p:spPr>
          <a:xfrm>
            <a:off x="1218725" y="1153711"/>
            <a:ext cx="5629200" cy="5010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Github URL – https://github.com/ayanajoy/Nutribot-AI</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22" name="Google Shape;122;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23" name="Google Shape;123;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24" name="Google Shape;124;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30" name="Google Shape;130;p42"/>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Wearables &amp; Health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b="0" i="0" sz="1850" u="none" cap="none" strike="noStrike">
              <a:solidFill>
                <a:srgbClr val="000000"/>
              </a:solidFill>
              <a:latin typeface="Times New Roman"/>
              <a:ea typeface="Times New Roman"/>
              <a:cs typeface="Times New Roman"/>
              <a:sym typeface="Times New Roman"/>
            </a:endParaRPr>
          </a:p>
        </p:txBody>
      </p:sp>
      <p:sp>
        <p:nvSpPr>
          <p:cNvPr id="131" name="Google Shape;131;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32" name="Google Shape;132;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33" name="Google Shape;133;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3"/>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39" name="Google Shape;139;p43" title="IBMDesign20260709-20-id6cf2_page-0001.jpg"/>
          <p:cNvPicPr preferRelativeResize="0"/>
          <p:nvPr/>
        </p:nvPicPr>
        <p:blipFill rotWithShape="1">
          <a:blip r:embed="rId3">
            <a:alphaModFix/>
          </a:blip>
          <a:srcRect b="1447" l="0" r="0" t="1447"/>
          <a:stretch/>
        </p:blipFill>
        <p:spPr>
          <a:xfrm>
            <a:off x="2335728" y="1212767"/>
            <a:ext cx="7075221" cy="53092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44" title="Completion Certificate _ SkillsBuild_page-0001.jpg"/>
          <p:cNvPicPr preferRelativeResize="0"/>
          <p:nvPr/>
        </p:nvPicPr>
        <p:blipFill rotWithShape="1">
          <a:blip r:embed="rId3">
            <a:alphaModFix/>
          </a:blip>
          <a:srcRect b="18633" l="-560" r="5719" t="0"/>
          <a:stretch/>
        </p:blipFill>
        <p:spPr>
          <a:xfrm>
            <a:off x="2512725" y="1712625"/>
            <a:ext cx="6807375" cy="4128627"/>
          </a:xfrm>
          <a:prstGeom prst="rect">
            <a:avLst/>
          </a:prstGeom>
          <a:noFill/>
          <a:ln>
            <a:noFill/>
          </a:ln>
        </p:spPr>
      </p:pic>
      <p:sp>
        <p:nvSpPr>
          <p:cNvPr id="145" name="Google Shape;145;p44"/>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